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3"/>
  </p:notesMasterIdLst>
  <p:handoutMasterIdLst>
    <p:handoutMasterId r:id="rId14"/>
  </p:handoutMasterIdLst>
  <p:sldIdLst>
    <p:sldId id="338" r:id="rId5"/>
    <p:sldId id="327" r:id="rId6"/>
    <p:sldId id="315" r:id="rId7"/>
    <p:sldId id="329" r:id="rId8"/>
    <p:sldId id="302" r:id="rId9"/>
    <p:sldId id="339" r:id="rId10"/>
    <p:sldId id="340" r:id="rId11"/>
    <p:sldId id="30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98" d="100"/>
          <a:sy n="98" d="100"/>
        </p:scale>
        <p:origin x="38" y="11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8/30/2026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8/30/2026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8/30/2026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8/30/2026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hyperlink" Target="Airbnb_Hotel_Booking_Analysis.ipynb"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633694" y="5124649"/>
            <a:ext cx="4158532" cy="1443791"/>
          </a:xfrm>
        </p:spPr>
        <p:txBody>
          <a:bodyPr>
            <a:normAutofit/>
          </a:bodyPr>
          <a:lstStyle/>
          <a:p>
            <a:pPr algn="r"/>
            <a:r>
              <a:rPr lang="en-US" b="0" dirty="0">
                <a:solidFill>
                  <a:schemeClr val="tx1"/>
                </a:solidFill>
                <a:latin typeface="Arial Rounded MT Bold" panose="020F0704030504030204" pitchFamily="34" charset="0"/>
              </a:rPr>
              <a:t>Presented By-</a:t>
            </a:r>
            <a:r>
              <a:rPr lang="en-US" b="0" dirty="0">
                <a:solidFill>
                  <a:schemeClr val="tx1"/>
                </a:solidFill>
              </a:rPr>
              <a:t> </a:t>
            </a:r>
            <a:r>
              <a:rPr lang="en-US" sz="2400" b="0" dirty="0">
                <a:solidFill>
                  <a:schemeClr val="accent2">
                    <a:lumMod val="75000"/>
                  </a:schemeClr>
                </a:solidFill>
                <a:latin typeface="Britannic Bold" panose="020B0903060703020204" pitchFamily="34" charset="0"/>
              </a:rPr>
              <a:t>Subarna Gupta</a:t>
            </a:r>
          </a:p>
          <a:p>
            <a:pPr algn="r"/>
            <a:r>
              <a:rPr lang="en-IN" b="0" dirty="0">
                <a:solidFill>
                  <a:schemeClr val="tx1"/>
                </a:solidFill>
              </a:rPr>
              <a:t> </a:t>
            </a:r>
            <a:r>
              <a:rPr lang="en-IN" sz="1900" b="0" dirty="0">
                <a:solidFill>
                  <a:schemeClr val="tx1"/>
                </a:solidFill>
                <a:latin typeface="Arial Rounded MT Bold" panose="020F0704030504030204" pitchFamily="34" charset="0"/>
              </a:rPr>
              <a:t>AICTE ID</a:t>
            </a:r>
            <a:r>
              <a:rPr lang="en-IN" sz="1800" b="0" dirty="0">
                <a:solidFill>
                  <a:schemeClr val="tx1"/>
                </a:solidFill>
              </a:rPr>
              <a:t>-STU6a66ec615856b1785130081</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795080" y="2668343"/>
            <a:ext cx="6997146" cy="1974310"/>
          </a:xfrm>
        </p:spPr>
        <p:txBody>
          <a:bodyPr>
            <a:normAutofit/>
          </a:bodyPr>
          <a:lstStyle/>
          <a:p>
            <a:r>
              <a:rPr lang="en-GB" sz="2700" dirty="0">
                <a:latin typeface="Arial Rounded MT Bold" panose="020F0704030504030204" pitchFamily="34" charset="0"/>
                <a:cs typeface="Arial" panose="020B0604020202020204" pitchFamily="34" charset="0"/>
              </a:rPr>
              <a:t> Project Title – </a:t>
            </a:r>
            <a:br>
              <a:rPr lang="en-GB" sz="2700" dirty="0">
                <a:latin typeface="Arial Rounded MT Bold" panose="020F0704030504030204" pitchFamily="34" charset="0"/>
                <a:cs typeface="Arial" panose="020B0604020202020204" pitchFamily="34" charset="0"/>
              </a:rPr>
            </a:br>
            <a:r>
              <a:rPr lang="en-GB" sz="2700" dirty="0">
                <a:latin typeface="Arial Rounded MT Bold" panose="020F0704030504030204" pitchFamily="34" charset="0"/>
                <a:cs typeface="Arial" panose="020B0604020202020204" pitchFamily="34" charset="0"/>
              </a:rPr>
              <a:t> </a:t>
            </a:r>
            <a:r>
              <a:rPr lang="en-IN" sz="4400" dirty="0">
                <a:solidFill>
                  <a:schemeClr val="accent2">
                    <a:lumMod val="75000"/>
                  </a:schemeClr>
                </a:solidFill>
                <a:latin typeface="Algerian" panose="04020705040A02060702" pitchFamily="82" charset="0"/>
              </a:rPr>
              <a:t>Airbnb Hotel Booking Analysis</a:t>
            </a:r>
            <a:endParaRPr lang="en-IN" sz="3200" dirty="0">
              <a:solidFill>
                <a:schemeClr val="accent2">
                  <a:lumMod val="75000"/>
                </a:schemeClr>
              </a:solidFill>
              <a:latin typeface="Algerian" panose="04020705040A02060702" pitchFamily="82"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11318" y="2219134"/>
            <a:ext cx="8094428" cy="3895419"/>
          </a:xfrm>
        </p:spPr>
        <p:txBody>
          <a:bodyPr>
            <a:normAutofit fontScale="77500" lnSpcReduction="20000"/>
          </a:bodyPr>
          <a:lstStyle/>
          <a:p>
            <a:r>
              <a:rPr lang="en-IN" sz="2300" b="1" dirty="0">
                <a:latin typeface="Baskerville Old Face" panose="02020602080505020303" pitchFamily="18" charset="0"/>
              </a:rPr>
              <a:t>The hospitality industry has undergone a significant transformation with the rise of online platforms facilitating short-term lodging and tourism. Leading this revolution is Airbnb, Inc., a pioneering American company that has reshaped travel accommodation through its innovative online marketplace. Established in 2008 in San Francisco, California, Airbnb provides a diverse range of lodging options, offering guests a unique and personalized experience. Unlike traditional hospitality providers, Airbnb operates on a commission-based model, facilitating transactions between hosts and guests without owning the properties listed on its platform.</a:t>
            </a:r>
          </a:p>
          <a:p>
            <a:r>
              <a:rPr lang="en-IN" sz="2300" b="1" dirty="0">
                <a:latin typeface="Baskerville Old Face" panose="02020602080505020303" pitchFamily="18" charset="0"/>
              </a:rPr>
              <a:t>This research analysis delves into the New York City Airbnb dataset to extract meaningful insights. Through rigorous data cleaning, exploratory analysis, and visualization techniques, the study aims to illuminate the dynamics of the city's lodging market. By discerning factors influencing listing availability, pricing strategies, and overall customer satisfaction, the research contributes to a deeper understanding of Airbnb's operations in one of the world's most dynamic urban environments. These insights hold significance for stakeholders and enthusiasts seeking to navigate the evolving landscape of short-term accommodation.</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452452" y="916177"/>
            <a:ext cx="6995604" cy="790111"/>
          </a:xfrm>
        </p:spPr>
        <p:txBody>
          <a:bodyPr>
            <a:normAutofit fontScale="90000"/>
          </a:bodyPr>
          <a:lstStyle/>
          <a:p>
            <a:r>
              <a:rPr lang="en-US" dirty="0">
                <a:solidFill>
                  <a:schemeClr val="accent2">
                    <a:lumMod val="75000"/>
                  </a:schemeClr>
                </a:solidFill>
                <a:latin typeface="Britannic Bold" panose="020B0903060703020204" pitchFamily="34" charset="0"/>
              </a:rPr>
              <a:t>PROBLEM  STATEMENT</a:t>
            </a:r>
            <a:endParaRPr lang="en-IN" dirty="0">
              <a:solidFill>
                <a:schemeClr val="accent2">
                  <a:lumMod val="75000"/>
                </a:schemeClr>
              </a:solidFill>
              <a:latin typeface="Britannic Bold" panose="020B0903060703020204" pitchFamily="34"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4665284"/>
          </a:xfrm>
        </p:spPr>
        <p:txBody>
          <a:bodyPr>
            <a:normAutofit fontScale="90000"/>
          </a:bodyPr>
          <a:lstStyle/>
          <a:p>
            <a:r>
              <a:rPr lang="en-GB" dirty="0">
                <a:solidFill>
                  <a:schemeClr val="accent2">
                    <a:lumMod val="75000"/>
                  </a:schemeClr>
                </a:solidFill>
                <a:latin typeface="Britannic Bold" panose="020B0903060703020204" pitchFamily="34" charset="0"/>
              </a:rPr>
              <a:t>Project Description</a:t>
            </a:r>
            <a:br>
              <a:rPr lang="en-GB" dirty="0">
                <a:latin typeface="Britannic Bold" panose="020B0903060703020204" pitchFamily="34" charset="0"/>
              </a:rPr>
            </a:br>
            <a:br>
              <a:rPr lang="en-GB" dirty="0"/>
            </a:br>
            <a:r>
              <a:rPr lang="en-IN" sz="2000" dirty="0">
                <a:latin typeface="Baskerville Old Face" panose="02020602080505020303" pitchFamily="18" charset="0"/>
              </a:rPr>
              <a:t>Airbnb has transformed the hospitality industry by providing travellers with flexible and affordable accommodation options while enabling property owners to generate income. This project analyses the New York City Airbnb dataset to gain a deeper understanding of listing characteristics, pricing behaviour, host activities, customer reviews, and availability trends.</a:t>
            </a:r>
            <a:br>
              <a:rPr lang="en-IN" sz="2000" dirty="0">
                <a:latin typeface="Baskerville Old Face" panose="02020602080505020303" pitchFamily="18" charset="0"/>
              </a:rPr>
            </a:br>
            <a:r>
              <a:rPr lang="en-IN" sz="2000" dirty="0">
                <a:latin typeface="Baskerville Old Face" panose="02020602080505020303" pitchFamily="18" charset="0"/>
              </a:rPr>
              <a:t>By applying data preprocessing, exploratory data analysis, and visualization techniques using Python, the project uncovers patterns and correlations that influence Airbnb operations. The insights derived from this analysis can help improve business strategies, enhance customer experiences, and support data-driven decision-making in the rapidly growing short-term rental market.</a:t>
            </a:r>
            <a:br>
              <a:rPr lang="en-IN" dirty="0">
                <a:latin typeface="Baskerville Old Face" panose="02020602080505020303" pitchFamily="18" charset="0"/>
              </a:rPr>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sz="2800" dirty="0">
                <a:latin typeface="Baskerville Old Face" panose="02020602080505020303" pitchFamily="18" charset="0"/>
              </a:rPr>
              <a:t>Airbnb Hosts </a:t>
            </a:r>
          </a:p>
          <a:p>
            <a:pPr lvl="0"/>
            <a:r>
              <a:rPr lang="en-IN" sz="2800" dirty="0">
                <a:latin typeface="Baskerville Old Face" panose="02020602080505020303" pitchFamily="18" charset="0"/>
              </a:rPr>
              <a:t>Property Owners </a:t>
            </a:r>
          </a:p>
          <a:p>
            <a:pPr lvl="0"/>
            <a:r>
              <a:rPr lang="en-IN" sz="2800" dirty="0">
                <a:latin typeface="Baskerville Old Face" panose="02020602080505020303" pitchFamily="18" charset="0"/>
              </a:rPr>
              <a:t>Travelers and Tourists </a:t>
            </a:r>
          </a:p>
          <a:p>
            <a:pPr lvl="0"/>
            <a:r>
              <a:rPr lang="en-IN" sz="2800" dirty="0">
                <a:latin typeface="Baskerville Old Face" panose="02020602080505020303" pitchFamily="18" charset="0"/>
              </a:rPr>
              <a:t>Airbnb Management </a:t>
            </a:r>
          </a:p>
          <a:p>
            <a:pPr lvl="0"/>
            <a:r>
              <a:rPr lang="en-IN" sz="2800" dirty="0">
                <a:latin typeface="Baskerville Old Face" panose="02020602080505020303" pitchFamily="18" charset="0"/>
              </a:rPr>
              <a:t>Market Researchers </a:t>
            </a:r>
          </a:p>
          <a:p>
            <a:pPr lvl="0"/>
            <a:r>
              <a:rPr lang="en-IN" sz="2800" dirty="0">
                <a:latin typeface="Baskerville Old Face" panose="02020602080505020303" pitchFamily="18" charset="0"/>
              </a:rPr>
              <a:t>Hospitality Industry Analysts </a:t>
            </a:r>
          </a:p>
          <a:p>
            <a:pPr lvl="0"/>
            <a:r>
              <a:rPr lang="en-IN" sz="2800" dirty="0">
                <a:latin typeface="Baskerville Old Face" panose="02020602080505020303" pitchFamily="18" charset="0"/>
              </a:rPr>
              <a:t>Business Decision Makers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600" dirty="0">
                <a:solidFill>
                  <a:schemeClr val="accent2">
                    <a:lumMod val="75000"/>
                  </a:schemeClr>
                </a:solidFill>
                <a:latin typeface="Britannic Bold" panose="020B0903060703020204" pitchFamily="34" charset="0"/>
              </a:rPr>
              <a:t>WHO ARE THE END USERS?</a:t>
            </a:r>
            <a:endParaRPr lang="en-IN" sz="2400" dirty="0">
              <a:solidFill>
                <a:schemeClr val="accent2">
                  <a:lumMod val="75000"/>
                </a:schemeClr>
              </a:solidFill>
              <a:latin typeface="Britannic Bold" panose="020B090306070302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06162" y="1432560"/>
            <a:ext cx="7812157" cy="5243448"/>
          </a:xfrm>
        </p:spPr>
        <p:txBody>
          <a:bodyPr/>
          <a:lstStyle/>
          <a:p>
            <a:pPr lvl="0"/>
            <a:r>
              <a:rPr lang="en-IN" dirty="0">
                <a:latin typeface="Baskerville Old Face" panose="02020602080505020303" pitchFamily="18" charset="0"/>
              </a:rPr>
              <a:t>Airbnb Hosts </a:t>
            </a:r>
          </a:p>
          <a:p>
            <a:pPr lvl="0"/>
            <a:r>
              <a:rPr lang="en-IN" dirty="0">
                <a:latin typeface="Baskerville Old Face" panose="02020602080505020303" pitchFamily="18" charset="0"/>
              </a:rPr>
              <a:t>Property Owners </a:t>
            </a:r>
          </a:p>
          <a:p>
            <a:pPr lvl="0"/>
            <a:r>
              <a:rPr lang="en-IN" dirty="0">
                <a:latin typeface="Baskerville Old Face" panose="02020602080505020303" pitchFamily="18" charset="0"/>
              </a:rPr>
              <a:t>Travelers and Tourists </a:t>
            </a:r>
          </a:p>
          <a:p>
            <a:pPr lvl="0"/>
            <a:r>
              <a:rPr lang="en-IN" dirty="0">
                <a:latin typeface="Baskerville Old Face" panose="02020602080505020303" pitchFamily="18" charset="0"/>
              </a:rPr>
              <a:t>Airbnb Management </a:t>
            </a:r>
          </a:p>
          <a:p>
            <a:pPr lvl="0"/>
            <a:r>
              <a:rPr lang="en-IN" dirty="0">
                <a:latin typeface="Baskerville Old Face" panose="02020602080505020303" pitchFamily="18" charset="0"/>
              </a:rPr>
              <a:t>Market Researchers </a:t>
            </a:r>
          </a:p>
          <a:p>
            <a:pPr lvl="0"/>
            <a:r>
              <a:rPr lang="en-IN" dirty="0">
                <a:latin typeface="Baskerville Old Face" panose="02020602080505020303" pitchFamily="18" charset="0"/>
              </a:rPr>
              <a:t>Hospitality Industry Analysts </a:t>
            </a:r>
          </a:p>
          <a:p>
            <a:pPr lvl="0"/>
            <a:r>
              <a:rPr lang="en-IN" dirty="0">
                <a:latin typeface="Baskerville Old Face" panose="02020602080505020303" pitchFamily="18" charset="0"/>
              </a:rPr>
              <a:t>Business Decision Makers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solidFill>
                  <a:schemeClr val="accent2">
                    <a:lumMod val="75000"/>
                  </a:schemeClr>
                </a:solidFill>
                <a:latin typeface="Britannic Bold" panose="020B0903060703020204" pitchFamily="34"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213954" y="170326"/>
            <a:ext cx="2605128" cy="685822"/>
          </a:xfrm>
        </p:spPr>
        <p:txBody>
          <a:bodyPr>
            <a:normAutofit/>
          </a:bodyPr>
          <a:lstStyle/>
          <a:p>
            <a:r>
              <a:rPr lang="en-GB" dirty="0">
                <a:solidFill>
                  <a:schemeClr val="accent2">
                    <a:lumMod val="75000"/>
                  </a:schemeClr>
                </a:solidFill>
                <a:latin typeface="Britannic Bold" panose="020B090306070302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91177BD-1129-6E51-6E29-478C9F0A2DE1}"/>
              </a:ext>
            </a:extLst>
          </p:cNvPr>
          <p:cNvPicPr>
            <a:picLocks noChangeAspect="1"/>
          </p:cNvPicPr>
          <p:nvPr/>
        </p:nvPicPr>
        <p:blipFill>
          <a:blip r:embed="rId3"/>
          <a:stretch>
            <a:fillRect/>
          </a:stretch>
        </p:blipFill>
        <p:spPr>
          <a:xfrm>
            <a:off x="34625" y="908132"/>
            <a:ext cx="3425787" cy="2388664"/>
          </a:xfrm>
          <a:prstGeom prst="rect">
            <a:avLst/>
          </a:prstGeom>
        </p:spPr>
      </p:pic>
      <p:pic>
        <p:nvPicPr>
          <p:cNvPr id="13" name="Picture 12">
            <a:extLst>
              <a:ext uri="{FF2B5EF4-FFF2-40B4-BE49-F238E27FC236}">
                <a16:creationId xmlns:a16="http://schemas.microsoft.com/office/drawing/2014/main" id="{E4EF4B82-C58B-963D-0DCF-359CB5048824}"/>
              </a:ext>
            </a:extLst>
          </p:cNvPr>
          <p:cNvPicPr>
            <a:picLocks noChangeAspect="1"/>
          </p:cNvPicPr>
          <p:nvPr/>
        </p:nvPicPr>
        <p:blipFill>
          <a:blip r:embed="rId4"/>
          <a:stretch>
            <a:fillRect/>
          </a:stretch>
        </p:blipFill>
        <p:spPr>
          <a:xfrm>
            <a:off x="3562614" y="908132"/>
            <a:ext cx="3549386" cy="2388664"/>
          </a:xfrm>
          <a:prstGeom prst="rect">
            <a:avLst/>
          </a:prstGeom>
        </p:spPr>
      </p:pic>
      <p:pic>
        <p:nvPicPr>
          <p:cNvPr id="15" name="Picture 14">
            <a:extLst>
              <a:ext uri="{FF2B5EF4-FFF2-40B4-BE49-F238E27FC236}">
                <a16:creationId xmlns:a16="http://schemas.microsoft.com/office/drawing/2014/main" id="{DB6B6CF8-2830-1E9A-6D4B-A33A5CB25E40}"/>
              </a:ext>
            </a:extLst>
          </p:cNvPr>
          <p:cNvPicPr>
            <a:picLocks noChangeAspect="1"/>
          </p:cNvPicPr>
          <p:nvPr/>
        </p:nvPicPr>
        <p:blipFill>
          <a:blip r:embed="rId5"/>
          <a:stretch>
            <a:fillRect/>
          </a:stretch>
        </p:blipFill>
        <p:spPr>
          <a:xfrm>
            <a:off x="7214202" y="908132"/>
            <a:ext cx="3827785" cy="2388663"/>
          </a:xfrm>
          <a:prstGeom prst="rect">
            <a:avLst/>
          </a:prstGeom>
        </p:spPr>
      </p:pic>
      <p:pic>
        <p:nvPicPr>
          <p:cNvPr id="17" name="Picture 16">
            <a:extLst>
              <a:ext uri="{FF2B5EF4-FFF2-40B4-BE49-F238E27FC236}">
                <a16:creationId xmlns:a16="http://schemas.microsoft.com/office/drawing/2014/main" id="{350D02E3-5558-DA94-3243-9AB27741FC3D}"/>
              </a:ext>
            </a:extLst>
          </p:cNvPr>
          <p:cNvPicPr>
            <a:picLocks noChangeAspect="1"/>
          </p:cNvPicPr>
          <p:nvPr/>
        </p:nvPicPr>
        <p:blipFill>
          <a:blip r:embed="rId6"/>
          <a:stretch>
            <a:fillRect/>
          </a:stretch>
        </p:blipFill>
        <p:spPr>
          <a:xfrm>
            <a:off x="34625" y="3348780"/>
            <a:ext cx="3425787" cy="2233850"/>
          </a:xfrm>
          <a:prstGeom prst="rect">
            <a:avLst/>
          </a:prstGeom>
        </p:spPr>
      </p:pic>
      <p:pic>
        <p:nvPicPr>
          <p:cNvPr id="19" name="Picture 18">
            <a:extLst>
              <a:ext uri="{FF2B5EF4-FFF2-40B4-BE49-F238E27FC236}">
                <a16:creationId xmlns:a16="http://schemas.microsoft.com/office/drawing/2014/main" id="{91C021BD-E542-9911-BD85-F497F925C089}"/>
              </a:ext>
            </a:extLst>
          </p:cNvPr>
          <p:cNvPicPr>
            <a:picLocks noChangeAspect="1"/>
          </p:cNvPicPr>
          <p:nvPr/>
        </p:nvPicPr>
        <p:blipFill>
          <a:blip r:embed="rId7"/>
          <a:stretch>
            <a:fillRect/>
          </a:stretch>
        </p:blipFill>
        <p:spPr>
          <a:xfrm>
            <a:off x="3562614" y="3348780"/>
            <a:ext cx="3549386" cy="2233850"/>
          </a:xfrm>
          <a:prstGeom prst="rect">
            <a:avLst/>
          </a:prstGeom>
        </p:spPr>
      </p:pic>
      <p:pic>
        <p:nvPicPr>
          <p:cNvPr id="21" name="Picture 20">
            <a:extLst>
              <a:ext uri="{FF2B5EF4-FFF2-40B4-BE49-F238E27FC236}">
                <a16:creationId xmlns:a16="http://schemas.microsoft.com/office/drawing/2014/main" id="{B60EE42C-3839-9E4F-1B7E-88B3C6E2F394}"/>
              </a:ext>
            </a:extLst>
          </p:cNvPr>
          <p:cNvPicPr>
            <a:picLocks noChangeAspect="1"/>
          </p:cNvPicPr>
          <p:nvPr/>
        </p:nvPicPr>
        <p:blipFill>
          <a:blip r:embed="rId8"/>
          <a:stretch>
            <a:fillRect/>
          </a:stretch>
        </p:blipFill>
        <p:spPr>
          <a:xfrm>
            <a:off x="7214202" y="3348779"/>
            <a:ext cx="3827785" cy="2233850"/>
          </a:xfrm>
          <a:prstGeom prst="rect">
            <a:avLst/>
          </a:prstGeom>
        </p:spPr>
      </p:pic>
      <p:sp>
        <p:nvSpPr>
          <p:cNvPr id="22" name="TextBox 21">
            <a:hlinkClick r:id="rId9" action="ppaction://hlinkfile"/>
            <a:extLst>
              <a:ext uri="{FF2B5EF4-FFF2-40B4-BE49-F238E27FC236}">
                <a16:creationId xmlns:a16="http://schemas.microsoft.com/office/drawing/2014/main" id="{26CD11AF-BB4E-67E6-FB1C-03BD5651F6C7}"/>
              </a:ext>
            </a:extLst>
          </p:cNvPr>
          <p:cNvSpPr txBox="1"/>
          <p:nvPr/>
        </p:nvSpPr>
        <p:spPr>
          <a:xfrm>
            <a:off x="705415" y="5949868"/>
            <a:ext cx="3192657" cy="369332"/>
          </a:xfrm>
          <a:prstGeom prst="rect">
            <a:avLst/>
          </a:prstGeom>
          <a:noFill/>
        </p:spPr>
        <p:txBody>
          <a:bodyPr wrap="square" rtlCol="0">
            <a:spAutoFit/>
          </a:bodyPr>
          <a:lstStyle/>
          <a:p>
            <a:r>
              <a:rPr lang="en-IN" dirty="0">
                <a:solidFill>
                  <a:srgbClr val="00B0F0"/>
                </a:solidFill>
                <a:hlinkClick r:id="rId9" action="ppaction://hlinkfile">
                  <a:extLst>
                    <a:ext uri="{A12FA001-AC4F-418D-AE19-62706E023703}">
                      <ahyp:hlinkClr xmlns:ahyp="http://schemas.microsoft.com/office/drawing/2018/hyperlinkcolor" val="tx"/>
                    </a:ext>
                  </a:extLst>
                </a:hlinkClick>
              </a:rPr>
              <a:t>To View Project Notebook</a:t>
            </a:r>
            <a:endParaRPr lang="en-IN" dirty="0">
              <a:solidFill>
                <a:srgbClr val="00B0F0"/>
              </a:solidFill>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A210E-BE97-E429-EBCF-A1C60D359190}"/>
              </a:ext>
            </a:extLst>
          </p:cNvPr>
          <p:cNvSpPr>
            <a:spLocks noGrp="1"/>
          </p:cNvSpPr>
          <p:nvPr>
            <p:ph type="title"/>
          </p:nvPr>
        </p:nvSpPr>
        <p:spPr>
          <a:xfrm>
            <a:off x="247489" y="111004"/>
            <a:ext cx="5535896" cy="1030042"/>
          </a:xfrm>
        </p:spPr>
        <p:txBody>
          <a:bodyPr/>
          <a:lstStyle/>
          <a:p>
            <a:r>
              <a:rPr lang="en-IN" dirty="0">
                <a:solidFill>
                  <a:schemeClr val="accent2">
                    <a:lumMod val="75000"/>
                  </a:schemeClr>
                </a:solidFill>
                <a:latin typeface="Britannic Bold" panose="020B0903060703020204" pitchFamily="34" charset="0"/>
              </a:rPr>
              <a:t>Conclusion</a:t>
            </a:r>
          </a:p>
        </p:txBody>
      </p:sp>
      <p:sp>
        <p:nvSpPr>
          <p:cNvPr id="3" name="Text Placeholder 2">
            <a:extLst>
              <a:ext uri="{FF2B5EF4-FFF2-40B4-BE49-F238E27FC236}">
                <a16:creationId xmlns:a16="http://schemas.microsoft.com/office/drawing/2014/main" id="{7632B7C9-C20B-DFC3-CE3F-36C24B062271}"/>
              </a:ext>
            </a:extLst>
          </p:cNvPr>
          <p:cNvSpPr>
            <a:spLocks noGrp="1"/>
          </p:cNvSpPr>
          <p:nvPr>
            <p:ph type="body" idx="1"/>
          </p:nvPr>
        </p:nvSpPr>
        <p:spPr>
          <a:xfrm>
            <a:off x="458503" y="1456002"/>
            <a:ext cx="9693681" cy="3795936"/>
          </a:xfrm>
        </p:spPr>
        <p:txBody>
          <a:bodyPr>
            <a:normAutofit fontScale="62500" lnSpcReduction="20000"/>
          </a:bodyPr>
          <a:lstStyle/>
          <a:p>
            <a:r>
              <a:rPr lang="en-IN" sz="2900" dirty="0">
                <a:latin typeface="Baskerville Old Face" panose="02020602080505020303" pitchFamily="18" charset="0"/>
              </a:rPr>
              <a:t>In conclusion, this project has provided a comprehensive analysis of the New York City Airbnb dataset, shedding light on various aspects of the short-term lodging market. Through data wrangling, exploratory data analysis (EDA), and interpretation of summary statistics, we've uncovered valuable insights into listing distribution, pricing dynamics, host, and review analysis.</a:t>
            </a:r>
          </a:p>
          <a:p>
            <a:r>
              <a:rPr lang="en-IN" sz="2900" dirty="0">
                <a:latin typeface="Baskerville Old Face" panose="02020602080505020303" pitchFamily="18" charset="0"/>
              </a:rPr>
              <a:t>Key findings include the dominance in counts of Entire home/apt listings, the variability in listing counts across neighbourhood groups, and the downward trend between property construction year and price. Additionally, the analysis highlighted the significance of verified host status on review rates, as well as the strong correlation between listing price and service fee.</a:t>
            </a:r>
          </a:p>
          <a:p>
            <a:r>
              <a:rPr lang="en-IN" sz="2900" dirty="0">
                <a:latin typeface="Baskerville Old Face" panose="02020602080505020303" pitchFamily="18" charset="0"/>
              </a:rPr>
              <a:t>Furthermore, conducting sentiment analysis on guest reviews to understand factors driving customer satisfaction and preferences could inform targeted marketing strategies and product improvements for Airbnb. Lastly, expanding the analysis to include predictive modelling techniques, such as regression or machine learning algorithms, could enable forecasting of listing demand, pricing trends, and customer behaviour, facilitating strategic decision-making for stakeholders in the short-term lodging industry.</a:t>
            </a:r>
          </a:p>
          <a:p>
            <a:endParaRPr lang="en-IN" dirty="0"/>
          </a:p>
        </p:txBody>
      </p:sp>
      <p:sp>
        <p:nvSpPr>
          <p:cNvPr id="4" name="Slide Number Placeholder 3">
            <a:extLst>
              <a:ext uri="{FF2B5EF4-FFF2-40B4-BE49-F238E27FC236}">
                <a16:creationId xmlns:a16="http://schemas.microsoft.com/office/drawing/2014/main" id="{5D425FCE-A78B-29A8-C813-6596236AD5FC}"/>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694995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a:bodyPr>
          <a:lstStyle/>
          <a:p>
            <a:pPr algn="ctr"/>
            <a:r>
              <a:rPr lang="en-US" sz="4800" b="1" dirty="0">
                <a:solidFill>
                  <a:schemeClr val="accent1">
                    <a:lumMod val="50000"/>
                  </a:schemeClr>
                </a:solidFill>
                <a:latin typeface="Britannic Bold" panose="020B0903060703020204" pitchFamily="34"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4294967295"/>
          </p:nvPr>
        </p:nvSpPr>
        <p:spPr>
          <a:xfrm>
            <a:off x="0" y="4641850"/>
            <a:ext cx="2139950" cy="1108075"/>
          </a:xfrm>
        </p:spPr>
        <p:txBody>
          <a:bodyPr>
            <a:normAutofit/>
          </a:bodyPr>
          <a:lstStyle/>
          <a:p>
            <a:r>
              <a:rPr lang="en-US" dirty="0"/>
              <a:t>.</a:t>
            </a:r>
          </a:p>
        </p:txBody>
      </p:sp>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4294967295"/>
          </p:nvPr>
        </p:nvSpPr>
        <p:spPr>
          <a:xfrm>
            <a:off x="1359877" y="2532284"/>
            <a:ext cx="7846645" cy="2516453"/>
          </a:xfrm>
        </p:spPr>
        <p:txBody>
          <a:bodyPr>
            <a:normAutofit/>
          </a:bodyPr>
          <a:lstStyle/>
          <a:p>
            <a:pPr marL="0" indent="0">
              <a:buNone/>
            </a:pPr>
            <a:r>
              <a:rPr lang="en-IN" sz="2400" dirty="0">
                <a:solidFill>
                  <a:srgbClr val="00B050"/>
                </a:solidFill>
                <a:latin typeface="Britannic Bold" panose="020B0903060703020204" pitchFamily="34" charset="0"/>
              </a:rPr>
              <a:t>“Turning Data into Insights.”</a:t>
            </a:r>
          </a:p>
          <a:p>
            <a:pPr marL="0" indent="0">
              <a:buNone/>
            </a:pPr>
            <a:endParaRPr lang="en-IN" sz="2400" b="1" dirty="0">
              <a:solidFill>
                <a:schemeClr val="accent1">
                  <a:lumMod val="50000"/>
                </a:schemeClr>
              </a:solidFill>
            </a:endParaRPr>
          </a:p>
          <a:p>
            <a:pPr marL="0" indent="0">
              <a:buNone/>
            </a:pPr>
            <a:r>
              <a:rPr lang="en-IN" sz="2400" b="1" dirty="0">
                <a:solidFill>
                  <a:schemeClr val="accent1">
                    <a:lumMod val="50000"/>
                  </a:schemeClr>
                </a:solidFill>
              </a:rPr>
              <a:t>                      Questions &amp; Feedback are Welcome</a:t>
            </a:r>
            <a:endParaRPr lang="en-IN" sz="2400" dirty="0">
              <a:solidFill>
                <a:schemeClr val="accent1">
                  <a:lumMod val="50000"/>
                </a:schemeClr>
              </a:solidFill>
            </a:endParaRPr>
          </a:p>
          <a:p>
            <a:pPr marL="0" indent="0">
              <a:buNone/>
            </a:pPr>
            <a:r>
              <a:rPr lang="en-IN" sz="2400" dirty="0">
                <a:solidFill>
                  <a:srgbClr val="00B050"/>
                </a:solidFill>
                <a:latin typeface="Britannic Bold" panose="020B0903060703020204" pitchFamily="34" charset="0"/>
              </a:rPr>
              <a:t> </a:t>
            </a:r>
          </a:p>
          <a:p>
            <a:pPr marL="0" indent="0">
              <a:buNone/>
            </a:pPr>
            <a:endParaRPr lang="en-IN" sz="2400" dirty="0">
              <a:solidFill>
                <a:srgbClr val="00B050"/>
              </a:solidFill>
              <a:latin typeface="Britannic Bold" panose="020B0903060703020204" pitchFamily="34" charset="0"/>
            </a:endParaRP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612</TotalTime>
  <Words>586</Words>
  <Application>Microsoft Office PowerPoint</Application>
  <PresentationFormat>Widescreen</PresentationFormat>
  <Paragraphs>38</Paragraphs>
  <Slides>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Algerian</vt:lpstr>
      <vt:lpstr>Arial</vt:lpstr>
      <vt:lpstr>Arial Rounded MT Bold</vt:lpstr>
      <vt:lpstr>Baskerville Old Face</vt:lpstr>
      <vt:lpstr>Britannic Bold</vt:lpstr>
      <vt:lpstr>Calibri</vt:lpstr>
      <vt:lpstr>Trebuchet MS</vt:lpstr>
      <vt:lpstr>Wingdings</vt:lpstr>
      <vt:lpstr>Wingdings 3</vt:lpstr>
      <vt:lpstr>Facet</vt:lpstr>
      <vt:lpstr> Project Title –   Airbnb Hotel Booking Analysis</vt:lpstr>
      <vt:lpstr>PROBLEM  STATEMENT</vt:lpstr>
      <vt:lpstr>Project Description  Airbnb has transformed the hospitality industry by providing travellers with flexible and affordable accommodation options while enabling property owners to generate income. This project analyses the New York City Airbnb dataset to gain a deeper understanding of listing characteristics, pricing behaviour, host activities, customer reviews, and availability trends. By applying data preprocessing, exploratory data analysis, and visualization techniques using Python, the project uncovers patterns and correlations that influence Airbnb operations. The insights derived from this analysis can help improve business strategies, enhance customer experiences, and support data-driven decision-making in the rapidly growing short-term rental market.  </vt:lpstr>
      <vt:lpstr>WHO ARE THE END USERS?</vt:lpstr>
      <vt:lpstr>Technology Used</vt:lpstr>
      <vt:lpstr>RESULTS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Subarna Gupta</cp:lastModifiedBy>
  <cp:revision>74</cp:revision>
  <dcterms:created xsi:type="dcterms:W3CDTF">2021-07-11T13:13:15Z</dcterms:created>
  <dcterms:modified xsi:type="dcterms:W3CDTF">2026-08-29T21:04:31Z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